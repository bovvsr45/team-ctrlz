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안녕하세요, 팀 ctrl+z입니다. 저희는 '학교급이 오를수록 급식은 더 든든해지는가'라는 질문을 부산 학교급식 실제 데이터로 검증했습니다. 지금부터 그 과정을 15분 동안 말씀드리겠습니다.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중고생이 되면 급식이 더 많아진다는 흔한 이야기를, 급식은 우리가 매일 겪는 문제이고 NEIS가 인증키 없이 실시간 데이터를 공개한다는 걸 발견해 직접 검증하기로 했습니다. 실제로 2027년 시행 예정인 교육부 열량 기준도 같은 방향이었습니다.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주가설은 학교급이 높을수록 칼로리가 높다는 것이고, 판정 기준은 초중고 순서와 200kcal 이상 차이 두 가지입니다. 보조가설은 목금에 튀김면류가 많다는 것이고, 목금 평균이 월~수 평균보다 높으면 지지입니다. 데이터를 보기 전에 미리 정한 기준입니다.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데이터는 세 가지입니다. NEIS 급식식단정보, NEIS 학교기본정보, 그리고 이 둘을 직접 계산한 요약표입니다. 표본은 부산 6개교, 평일 5일치 중식만입니다.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이제부터 대시보드를 직접 켜서 보여드리겠습니다. 내 학교 찾기로 실시간 검색을 해보고, 학교급별 칼로리 그래프와 가설 판정 카드를 보여드립니다. 학부모님들도 QR로 같이 접속해보세요.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이어서 요일별 튀김면류 차트, 표본 학교 6곳 상세 테이블, 예상 밖의 발견 카드까지 보여드립니다. 화면 맨 아래엔 항상 출처 목록이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주가설은 지지입니다. 초중고 순서가 성립하고 차이도 345.2kcal로 기준을 넘었습니다. 보조가설은 기각입니다. 목금과 월~수가 거의 같았고 오히려 수요일이 가장 높았습니다. 다만 같은 고등학교끼리도 315kcal 차이가 나서, 학교급보다 학교 간 편차가 더 클 수 있다는 걸 발견했습니다.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부산시교육청에 제안합니다. 학교급 기준만이 아니라 학교 간 편차도 함께 점검해달라는 것입니다. 근거는 같은 고등학교끼리도 315kcal나 차이가 났다는 점이고, 표본이 6개교뿐이라는 한계도 인정합니다.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마지막으로 팀원들이 한 줄씩 소감을 말씀드리겠습니다. 이상으로 팀 ctrl+z의 발표를 마치겠습니다. 감사합니다. 질문 환영합니다.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188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8FA5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중2 DataAI 2기 · 부산정보영재교육원 · 팀 ctrl+z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학교급이 오를수록
</a:t>
            </a:r>
            <a:endParaRPr lang="en-US" sz="4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급식은 더 든든해지는가?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22960" y="36576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D6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부산 학교급식 데이터로 검증한 초·중·고 칼로리 비교 연구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A5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박서찬  ·  배여준  ·  백은준  ·  서동연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86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/ 9  ·  문제 인식 1/2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0" y="64465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86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 ctrl+z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F6F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인식 · 2/2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5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“중학생, 고등학생이 되면
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0F25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급식이 더 든든해진다”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5146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7A86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누구나 한 번쯤 들어본 이야기 — 하지만 숫자로 확인된 적은 드물다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10881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2200" b="1" dirty="0">
                <a:solidFill>
                  <a:srgbClr val="1B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급식은 우리가 매일 직접 겪는 문제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2200" b="1" dirty="0">
                <a:solidFill>
                  <a:srgbClr val="1B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교육부 NEIS 개방포털이 인증키 없이 실시간으로 전국 급식 데이터를 공개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2200" b="1" dirty="0">
                <a:solidFill>
                  <a:srgbClr val="1B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부산 학생 입장에서 우리가 직접 검증할 수 있는 기회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516636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F7F9FC"/>
          </a:solidFill>
          <a:ln w="12700">
            <a:solidFill>
              <a:srgbClr val="DBE1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516636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5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기준도 같은 방향 — </a:t>
            </a:r>
            <a:pPr indent="0" marL="0">
              <a:buNone/>
            </a:pPr>
            <a:r>
              <a:rPr lang="en-US" sz="1500" dirty="0">
                <a:solidFill>
                  <a:srgbClr val="7A86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2027년 시행 예정 학교급식 열량기준(남학생 기준 초570→고900kcal)도 학교급이 높을수록 커집니다.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86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9  ·  문제 인식 2/2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0" y="64465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86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 ctrl+z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F6F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가설 · 미리 정했다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5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가설과 판정 기준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7800" cy="4114800"/>
          </a:xfrm>
          <a:prstGeom prst="roundRect">
            <a:avLst>
              <a:gd name="adj" fmla="val 2667"/>
            </a:avLst>
          </a:prstGeom>
          <a:solidFill>
            <a:srgbClr val="EEF3FF"/>
          </a:solidFill>
          <a:ln w="19050">
            <a:solidFill>
              <a:srgbClr val="C8D6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031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6F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주가설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60604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0F25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학교급(초·중·고)이 높아질수록</a:t>
            </a:r>
            <a:endParaRPr lang="en-US" sz="2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0F25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점심 급식 평균 칼로리가 높을 것이다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39319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86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기준 — 모두 만족하면 지지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4343400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700" b="1" dirty="0">
                <a:solidFill>
                  <a:srgbClr val="1B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초 &lt; 중 &lt; 고 순서 성립</a:t>
            </a:r>
            <a:endParaRPr lang="en-US" sz="1700" dirty="0"/>
          </a:p>
          <a:p>
            <a:pPr marL="342900" indent="-342900">
              <a:buSzPct val="100000"/>
              <a:buChar char="●"/>
            </a:pPr>
            <a:r>
              <a:rPr lang="en-US" sz="1700" b="1" dirty="0">
                <a:solidFill>
                  <a:srgbClr val="1B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초-고 평균 차이 200kcal 이상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257800" cy="4114800"/>
          </a:xfrm>
          <a:prstGeom prst="roundRect">
            <a:avLst>
              <a:gd name="adj" fmla="val 2667"/>
            </a:avLst>
          </a:prstGeom>
          <a:solidFill>
            <a:srgbClr val="F7F9FC"/>
          </a:solidFill>
          <a:ln w="19050">
            <a:solidFill>
              <a:srgbClr val="DBE1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21031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86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보조가설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37960" y="260604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0F25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 후반(목·금)일수록</a:t>
            </a:r>
            <a:endParaRPr lang="en-US" sz="2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0F25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튀김·면류 메뉴가 더 많이 나올 것이다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537960" y="39319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86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기준 — 만족하면 지지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37960" y="434340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700" b="1" dirty="0">
                <a:solidFill>
                  <a:srgbClr val="1B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목·금 평균 등장비율이</a:t>
            </a:r>
            <a:endParaRPr lang="en-US" sz="1700" dirty="0"/>
          </a:p>
          <a:p>
            <a:pPr marL="342900" indent="-342900">
              <a:buSzPct val="100000"/>
              <a:buChar char="●"/>
            </a:pPr>
            <a:r>
              <a:rPr lang="en-US" sz="1700" b="1" dirty="0">
                <a:solidFill>
                  <a:srgbClr val="1B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월~수 평균보다 높다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86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9  ·  가설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0" y="64465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86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 ctrl+z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F6F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5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3종 세트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10881360" cy="3017520"/>
        </p:xfrm>
        <a:graphic>
          <a:graphicData uri="http://schemas.openxmlformats.org/drawingml/2006/table">
            <a:tbl>
              <a:tblPr/>
              <a:tblGrid>
                <a:gridCol w="914400"/>
                <a:gridCol w="3657600"/>
                <a:gridCol w="6309360"/>
              </a:tblGrid>
              <a:tr h="1005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F6FED"/>
                          </a:solidFill>
                        </a:rPr>
                        <a:t>①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F2540"/>
                          </a:solidFill>
                        </a:rPr>
                        <a:t>NEIS 급식식단정보 API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7A8699"/>
                          </a:solidFill>
                        </a:rPr>
                        <a:t>교육부·NEIS 개방포털 · 2026.7 실시간</a:t>
                      </a:r>
                      <a:endParaRPr lang="en-US" sz="1400" dirty="0"/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7A8699"/>
                          </a:solidFill>
                        </a:rPr>
                        <a:t>open.neis.go.kr/hub/mealServiceDietInfo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F6FED"/>
                          </a:solidFill>
                        </a:rPr>
                        <a:t>②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F2540"/>
                          </a:solidFill>
                        </a:rPr>
                        <a:t>NEIS 학교기본정보 API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7A8699"/>
                          </a:solidFill>
                        </a:rPr>
                        <a:t>교육부·NEIS 개방포털 · 2026.7</a:t>
                      </a:r>
                      <a:endParaRPr lang="en-US" sz="1400" dirty="0"/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7A8699"/>
                          </a:solidFill>
                        </a:rPr>
                        <a:t>open.neis.go.kr/hub/schoolInfo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F6FED"/>
                          </a:solidFill>
                        </a:rPr>
                        <a:t>③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F2540"/>
                          </a:solidFill>
                        </a:rPr>
                        <a:t>학교급별 칼로리 요약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7A8699"/>
                          </a:solidFill>
                        </a:rPr>
                        <a:t>위 두 API 원자료를 직접 계산 · AI(Claude) 계산 · 2026.7</a:t>
                      </a:r>
                      <a:endParaRPr lang="en-US" sz="1400" dirty="0"/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7A8699"/>
                          </a:solidFill>
                        </a:rPr>
                        <a:t>data/학교급별_칼로리_요약.csv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16636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F7F9FC"/>
          </a:solidFill>
          <a:ln w="12700">
            <a:solidFill>
              <a:srgbClr val="DBE1E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516636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5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표본 — </a:t>
            </a:r>
            <a:pPr indent="0" marL="0">
              <a:buNone/>
            </a:pPr>
            <a:r>
              <a:rPr lang="en-US" sz="1500" dirty="0">
                <a:solidFill>
                  <a:srgbClr val="7A86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6개교(초2·중2·고2, 서로 다른 6개 구·군) × 평일 5일(2026.5) 중식만 · 인증키 없이 직접 호출한 실측치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86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9  ·  데이터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0" y="64465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86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 ctrl+z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D1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 라이브 시연 · 1/2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6675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지금부터는 대시보드가</a:t>
            </a:r>
            <a:endParaRPr lang="en-US" sz="3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설명합니다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502920" cy="50292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274320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학교 찾기 — 실시간 NEIS 검색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3520440"/>
            <a:ext cx="502920" cy="50292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71600" y="352044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학교급별 평균 칼로리 막대그래프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40080" y="4297680"/>
            <a:ext cx="502920" cy="50292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71600" y="429768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가설 판정 카드 (지지 ✅ / 기각 ❌)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863840" y="1280160"/>
            <a:ext cx="3657600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</p:spPr>
      </p:sp>
      <p:pic>
        <p:nvPicPr>
          <p:cNvPr id="14" name="Image 0" descr="/sessions/adoring-elegant-knuth/mnt/outputs/pptxwork/unpacked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1737360"/>
            <a:ext cx="2377440" cy="237744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955280" y="42519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6F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webctrlz.netlify.app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7955280" y="475488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7A86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학부모님도 폰으로 QR 스캔해서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7A86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같이 보실 수 있어요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86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9  ·  대시보드 시연 1/2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686800" y="64465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86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 ctrl+z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D1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 라이브 시연 · 2/2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이어서 보여드릴 화면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502920" cy="50292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219456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요일별 튀김·면류 등장비율 차트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40080" y="3063240"/>
            <a:ext cx="502920" cy="50292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71600" y="30632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표본 학교 6곳 상세 테이블 (필터·정렬)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640080" y="3931920"/>
            <a:ext cx="502920" cy="50292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71600" y="39319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예상 밖의 발견 카드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640080" y="512064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13314F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512064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D6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화면 하단에는 항상 데이터 출처 목록이 표시됩니다.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86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9  ·  대시보드 시연 2/2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0" y="64465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86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 ctrl+z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F6F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결과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5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가설, 이렇게 판정됐습니다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2148840"/>
          </a:xfrm>
          <a:prstGeom prst="roundRect">
            <a:avLst>
              <a:gd name="adj" fmla="val 5106"/>
            </a:avLst>
          </a:prstGeom>
          <a:solidFill>
            <a:srgbClr val="E9F9F1"/>
          </a:solidFill>
          <a:ln w="19050">
            <a:solidFill>
              <a:srgbClr val="B7EC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659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9E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주가설  →  지지 ✅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5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 644.7 &lt; 중 829.5 &lt; 고 989.9 kcal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A86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초-고 평균 차이 345.2kcal — 기준 200kcal 이상 충족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63640" y="1783080"/>
            <a:ext cx="5257800" cy="2148840"/>
          </a:xfrm>
          <a:prstGeom prst="roundRect">
            <a:avLst>
              <a:gd name="adj" fmla="val 5106"/>
            </a:avLst>
          </a:prstGeom>
          <a:solidFill>
            <a:srgbClr val="FDEEEE"/>
          </a:solidFill>
          <a:ln w="19050">
            <a:solidFill>
              <a:srgbClr val="F3C6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19659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331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보조가설  →  기각 ❌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537960" y="246888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5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목·금 50.0%  vs  월~수 51.1%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537960" y="301752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A86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거의 동일 — 오히려 수요일이 최고(100%)였다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160520"/>
            <a:ext cx="10881360" cy="1874520"/>
          </a:xfrm>
          <a:prstGeom prst="roundRect">
            <a:avLst>
              <a:gd name="adj" fmla="val 5854"/>
            </a:avLst>
          </a:prstGeom>
          <a:solidFill>
            <a:srgbClr val="FFF7E8"/>
          </a:solidFill>
          <a:ln w="19050">
            <a:solidFill>
              <a:srgbClr val="F3D9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3434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5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🔎  부분 지지 관점 — 학교 간 편차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480060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B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고등학교끼리도 315.2kcal 차이(건국고 832.3 vs 경남고 1,147.5) — 학교급 간 차이(345.2kcal)에 맞먹는 크기.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B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학교급보다 학교별 급식 예산·운영 차이가 더 클 수 있다는 신호입니다.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86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9  ·  판정 결과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0" y="64465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86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 ctrl+z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F6F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 · 어른들께 드리는 요청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5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누구에게, 무엇을 제안하는가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2103120"/>
          </a:xfrm>
          <a:prstGeom prst="roundRect">
            <a:avLst>
              <a:gd name="adj" fmla="val 6087"/>
            </a:avLst>
          </a:prstGeom>
          <a:solidFill>
            <a:srgbClr val="EEF3FF"/>
          </a:solidFill>
          <a:ln w="19050">
            <a:solidFill>
              <a:srgbClr val="C8D6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103120"/>
            <a:ext cx="10149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2F6F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부산시교육청</a:t>
            </a:r>
            <a:pPr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0F25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에게 —
</a:t>
            </a:r>
            <a:endParaRPr lang="en-US" sz="2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0F25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학교급별 급식 기준 칼로리뿐 아니라, 학교 간 편차도 함께 점검해 주시길 제안합니다.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4297680"/>
            <a:ext cx="10881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900" b="1" dirty="0">
                <a:solidFill>
                  <a:srgbClr val="1B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— 같은 고등학교끼리도 315.2kcal 차이, 학교급 간 차이(345.2kcal)에 맞먹는 크기</a:t>
            </a:r>
            <a:endParaRPr lang="en-US" sz="19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900" b="1" dirty="0">
                <a:solidFill>
                  <a:srgbClr val="1B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 인정 — 표본이 6개교뿐이라 부산 전체 621개교 일반화엔 이릅니다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86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9  ·  제안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0" y="64465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86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 ctrl+z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D1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소감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줄씩, 전원 마이크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57800" cy="1737360"/>
          </a:xfrm>
          <a:prstGeom prst="roundRect">
            <a:avLst>
              <a:gd name="adj" fmla="val 6316"/>
            </a:avLst>
          </a:prstGeom>
          <a:solidFill>
            <a:srgbClr val="1B2A44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1031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D1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박서찬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60120" y="3063240"/>
            <a:ext cx="4617720" cy="0"/>
          </a:xfrm>
          <a:prstGeom prst="line">
            <a:avLst/>
          </a:prstGeom>
          <a:noFill/>
          <a:ln w="12700">
            <a:solidFill>
              <a:srgbClr val="3A5A7B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6263640" y="1874520"/>
            <a:ext cx="5257800" cy="1737360"/>
          </a:xfrm>
          <a:prstGeom prst="roundRect">
            <a:avLst>
              <a:gd name="adj" fmla="val 6316"/>
            </a:avLst>
          </a:prstGeom>
          <a:solidFill>
            <a:srgbClr val="1B2A44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21031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D1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배여준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583680" y="3063240"/>
            <a:ext cx="4617720" cy="0"/>
          </a:xfrm>
          <a:prstGeom prst="line">
            <a:avLst/>
          </a:prstGeom>
          <a:noFill/>
          <a:ln w="12700">
            <a:solidFill>
              <a:srgbClr val="3A5A7B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640080" y="3794760"/>
            <a:ext cx="5257800" cy="1737360"/>
          </a:xfrm>
          <a:prstGeom prst="roundRect">
            <a:avLst>
              <a:gd name="adj" fmla="val 6316"/>
            </a:avLst>
          </a:prstGeom>
          <a:solidFill>
            <a:srgbClr val="1B2A44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40233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D1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백은준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960120" y="4983480"/>
            <a:ext cx="4617720" cy="0"/>
          </a:xfrm>
          <a:prstGeom prst="line">
            <a:avLst/>
          </a:prstGeom>
          <a:noFill/>
          <a:ln w="12700">
            <a:solidFill>
              <a:srgbClr val="3A5A7B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6263640" y="3794760"/>
            <a:ext cx="5257800" cy="1737360"/>
          </a:xfrm>
          <a:prstGeom prst="roundRect">
            <a:avLst>
              <a:gd name="adj" fmla="val 6316"/>
            </a:avLst>
          </a:prstGeom>
          <a:solidFill>
            <a:srgbClr val="1B2A44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40233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D1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서동연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583680" y="4983480"/>
            <a:ext cx="4617720" cy="0"/>
          </a:xfrm>
          <a:prstGeom prst="line">
            <a:avLst/>
          </a:prstGeom>
          <a:noFill/>
          <a:ln w="12700">
            <a:solidFill>
              <a:srgbClr val="3A5A7B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FA5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각자 오늘 발표 전 한 줄씩 채워주세요 · 감사합니다 · 질문 환영합니다 🙋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86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9  ·  팀 소감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0" y="64465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86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 ctrl+z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2026-07-28T00:42:46Z</dcterms:created>
  <dcterms:modified xsi:type="dcterms:W3CDTF">2026-07-28T00:42:46Z</dcterms:modified>
</cp:coreProperties>
</file>